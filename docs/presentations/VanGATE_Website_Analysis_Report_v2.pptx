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VanGATE Website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5D4F4"/>
                </a:solidFill>
              </a:defRPr>
            </a:pPr>
            <a:r>
              <a:t>Website Functionality Overview |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Website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Website URL: https://vangate.ca/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Company: VanGATE Manufacturing &amp; Automation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Location: Richmond, BC, Canada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Industry: Automatic Door &amp; Gate Systems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Current Platform: WordPress 6.9.4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Business Focus: Residential &amp; Commercial Solutions</a:t>
            </a:r>
          </a:p>
          <a:p>
            <a:pPr>
              <a:spcAft>
                <a:spcPts val="1400"/>
              </a:spcAft>
              <a:defRPr sz="1200">
                <a:solidFill>
                  <a:srgbClr val="444441"/>
                </a:solidFill>
              </a:defRPr>
            </a:pPr>
            <a:r>
              <a:t>•  </a:t>
            </a:r>
          </a:p>
          <a:p>
            <a:pPr>
              <a:spcAft>
                <a:spcPts val="1400"/>
              </a:spcAft>
              <a:defRPr sz="2000" b="1">
                <a:solidFill>
                  <a:srgbClr val="444441"/>
                </a:solidFill>
              </a:defRPr>
            </a:pPr>
            <a:r>
              <a:t>• Website Purpose: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Introduce company and products/services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Showcase products, projects, and galleries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Publish news and industry articles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Display customer testimonials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Receive customer inquiries via form and phone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Support online marketing via SEO and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User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400800"/>
                <a:gridCol w="228600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Current Functions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Website Visitor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Browse content, view products/services, gallery, news; submit inquiry,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Content Editor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Manage pages, articles, images, menus, SEO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Assumed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Administrator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Manage users, themes, plugins, forms,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Assumed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78ADD"/>
                </a:solidFill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5FA5"/>
                </a:solidFill>
              </a:defRPr>
            </a:pPr>
            <a:r>
              <a:t>Functionality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Functionality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858000"/>
                <a:gridCol w="201168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Main Features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Navigation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Desktop top nav, mobile menu, logo, footer links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Homepage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Hero, products overview, gallery, testimonials, news, CTA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Company introduction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Products/Services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Category listing, product detail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Gallery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Project photos with lightbox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News/Articles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Article listing, detail pages, pagination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Contact form, phone, address, department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CMS 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WordPress admin, content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Assumed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78ADD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5FA5"/>
                </a:solidFill>
              </a:defRPr>
            </a:pPr>
            <a:r>
              <a:t>Detailed Functionality 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Navigation &amp; Public Areas (WEB Series)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10312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WEB-001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Desktop top navigation 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WEB-002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Mobile menu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WEB-003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VanGATE logo with home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WEB-004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Navigation entries: Products, Services, Company, News, Gallery, 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WEB-005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Clickable phone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WEB-006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Footer with services, products, company, address, 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WEB-007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Back to top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WEB-008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Responsive design (desktop, tablet, mobile)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Homepage (HOM Series)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HOM-001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Introduction to residential &amp; commercial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HOM-002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Primary CTA: contact and call buttons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HOM-003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Main products and services overview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HOM-004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Project/gallery image showcase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HOM-005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Gallery images can be enlarged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HOM-006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Link to full gallery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HOM-007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Customer testimonials 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HOM-008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Recent news/articles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HOM-009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Link to full news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HOM-010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Effects: carousel, lightbox, scroll animations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Products &amp; Services Catalog (CAT Series)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10312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CAT-001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Products and services organized by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CAT-002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Category listing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CAT-003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Individual product/service detail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CAT-004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Content includes: name, description,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CAT-005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Each product/service has unique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CAT-006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Product pages include contact CTA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CAT-007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Catalog covers both residential and 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CAT-008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Backend category and content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Assumed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Gallery &amp; News (GAL/NEW Series)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GAL-001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Project/product gallery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GAL-002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Gallery displayed as image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GAL-003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Gallery responsive on all screen sizes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GAL-004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Images can be enlarged, browse prev/next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GAL-005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Backend image upload and reuse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Assumed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NEW-001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News or article listing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NEW-002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List shows: title, date, summary,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NEW-003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Each article has dedicated detail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NEW-004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News list supports pagination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NEW-005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Backend article CRUD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Assumed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Contact &amp; Inquiries (CON Series)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10312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Contact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Company address and phone 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Clickable phone number on 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Online inquiry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Form validates required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Form submission triggers analytics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CON-007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Form submission sends email to recipients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Assumed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CON-008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Form fields, recipients, spam protection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To Confirm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SEO &amp; Analytics (SEO Series)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10312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SEO-001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Page supports independent SEO title and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SEO-002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Page outputs canonical URLs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SEO-003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Page outputs Open Graph and Twitter card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SEO-004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Page outputs structured data (JSON-LD)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SEO-005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Website provides XML sitemap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Assumed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SEO-006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Google Analytics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SEO-007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Google Tag Manager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SEO-008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Contact form as analytics conversion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Technical Environment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058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4864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Current Implementation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Web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LiteSpeed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Server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PHP 7.4.33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WordPress 6.9.4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Custom 'vangate' 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Page Editor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Elementor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Bootstrap 4.5.3, jQuery, Custom 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Contact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Contact Form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SEO Plugin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Yoast SEO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Wordfence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Swiper, Slick, PhotoSwipe, Lity, WOW.js, Font Awesome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Functions NOT Observed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Customer registration and login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Dealer or contractor portal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Online quote tool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Shopping cart and online payment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Inventory and warehouse management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Installation project progress tracking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After-sales ticket management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Online appointment booking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CRM synchronization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Multi-language switching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Employee internal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Items to Confirm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Which pages and homepage modules can clients edit?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Products/services: custom post type or theme template?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Does gallery and testimonials have independent admin entry?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What fields does contact form include, who receives emails?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Are contact form records saved to database?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What admin users and roles exist?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Are there unpublished pages still in use?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Are article categories, tags, authors, comments used?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Who manages analytics and search console accounts?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Is there regular backup and security update schedule?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78ADD"/>
                </a:solidFill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5FA5"/>
                </a:solidFill>
              </a:defRPr>
            </a:pPr>
            <a:r>
              <a:t>New Website Design Styles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Three Design Styles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2743200"/>
                <a:gridCol w="384048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Style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Positioning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Target Audience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Key Features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Modern Minimal</a:t>
                      </a:r>
                    </a:p>
                    <a:p>
                      <a:r>
                        <a:t>现代极简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Clean &amp; Professional</a:t>
                      </a:r>
                    </a:p>
                    <a:p>
                      <a:r>
                        <a:t>专业清新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High-end homeowners</a:t>
                      </a:r>
                    </a:p>
                    <a:p>
                      <a:r>
                        <a:t>Repair chains</a:t>
                      </a:r>
                    </a:p>
                    <a:p>
                      <a:r>
                        <a:t>B2B 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Light theme, ample whitespace</a:t>
                      </a:r>
                    </a:p>
                    <a:p>
                      <a:r>
                        <a:t>Soft shadows, refined details</a:t>
                      </a:r>
                    </a:p>
                    <a:p>
                      <a:r>
                        <a:t>Trust and professionalism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Industrial Professional</a:t>
                      </a:r>
                    </a:p>
                    <a:p>
                      <a:r>
                        <a:t>工业专业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Heavy-Duty &amp; Bold</a:t>
                      </a:r>
                    </a:p>
                    <a:p>
                      <a:r>
                        <a:t>稳重功能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Commercial clients</a:t>
                      </a:r>
                    </a:p>
                    <a:p>
                      <a:r>
                        <a:t>Repair technicians</a:t>
                      </a:r>
                    </a:p>
                    <a:p>
                      <a:r>
                        <a:t>Fleet managers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Dark theme, industrial orange</a:t>
                      </a:r>
                    </a:p>
                    <a:p>
                      <a:r>
                        <a:t>Bold typography</a:t>
                      </a:r>
                    </a:p>
                    <a:p>
                      <a:r>
                        <a:t>Data-focused layout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Vibrant Contemporary</a:t>
                      </a:r>
                    </a:p>
                    <a:p>
                      <a:r>
                        <a:t>活力现代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Bold &amp; Dynamic</a:t>
                      </a:r>
                    </a:p>
                    <a:p>
                      <a:r>
                        <a:t>年轻动感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Young car owners</a:t>
                      </a:r>
                    </a:p>
                    <a:p>
                      <a:r>
                        <a:t>Auto enthusiasts</a:t>
                      </a:r>
                    </a:p>
                    <a:p>
                      <a:r>
                        <a:t>E-commerce retail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Gradient colors, micro-animations</a:t>
                      </a:r>
                    </a:p>
                    <a:p>
                      <a:r>
                        <a:t>Card-based layout</a:t>
                      </a:r>
                    </a:p>
                    <a:p>
                      <a:r>
                        <a:t>Energetic and modern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Style 1: Modern Minimal (现代极简)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Color Palette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Primary: #1E3A5F (Deep Sea Blue)</a:t>
                      </a:r>
                    </a:p>
                    <a:p>
                      <a:r>
                        <a:t>Accent: #0EA5E9 (Sky Blue)</a:t>
                      </a:r>
                    </a:p>
                    <a:p>
                      <a:r>
                        <a:t>Background: #FFFFFF</a:t>
                      </a:r>
                    </a:p>
                    <a:p>
                      <a:r>
                        <a:t>Text: #1E293B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Typography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Headings: Plus Jakarta Sans (600, 700)</a:t>
                      </a:r>
                    </a:p>
                    <a:p>
                      <a:r>
                        <a:t>Body: Inter (400, 500)</a:t>
                      </a:r>
                    </a:p>
                    <a:p>
                      <a:r>
                        <a:t>Strong contrast between heading and body weights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Design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Generous whitespace</a:t>
                      </a:r>
                    </a:p>
                    <a:p>
                      <a:r>
                        <a:t>Soft shadows (0 4px 12px)</a:t>
                      </a:r>
                    </a:p>
                    <a:p>
                      <a:r>
                        <a:t>Rounded corners (10-16px)</a:t>
                      </a:r>
                    </a:p>
                    <a:p>
                      <a:r>
                        <a:t>Minimal borders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Mobile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Single column layout</a:t>
                      </a:r>
                    </a:p>
                    <a:p>
                      <a:r>
                        <a:t>64px fixed header</a:t>
                      </a:r>
                    </a:p>
                    <a:p>
                      <a:r>
                        <a:t>Full-width cards</a:t>
                      </a:r>
                    </a:p>
                    <a:p>
                      <a:r>
                        <a:t>Bottom-anchored CTAs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PC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Max-width: 1280px centered</a:t>
                      </a:r>
                    </a:p>
                    <a:p>
                      <a:r>
                        <a:t>6-column category grid</a:t>
                      </a:r>
                    </a:p>
                    <a:p>
                      <a:r>
                        <a:t>4-column product grid</a:t>
                      </a:r>
                    </a:p>
                    <a:p>
                      <a:r>
                        <a:t>Hover animations on cards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Style 2: Industrial Professional (工业专业)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Color Palette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Primary: #F97316 (Industrial Orange)</a:t>
                      </a:r>
                    </a:p>
                    <a:p>
                      <a:r>
                        <a:t>Background: #18181B (Deep Black)</a:t>
                      </a:r>
                    </a:p>
                    <a:p>
                      <a:r>
                        <a:t>Surface: #27272A (Carbon Gray)</a:t>
                      </a:r>
                    </a:p>
                    <a:p>
                      <a:r>
                        <a:t>Accent: #FBBF24 (Amber Yellow)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Typography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Headings: Bebas Neue (700)</a:t>
                      </a:r>
                    </a:p>
                    <a:p>
                      <a:r>
                        <a:t>Body: Source Sans 3 (400, 600)</a:t>
                      </a:r>
                    </a:p>
                    <a:p>
                      <a:r>
                        <a:t>ALL CAPS for key labels</a:t>
                      </a:r>
                    </a:p>
                    <a:p>
                      <a:r>
                        <a:t>Strong industrial feel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Design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Bold 2px borders</a:t>
                      </a:r>
                    </a:p>
                    <a:p>
                      <a:r>
                        <a:t>Sharp corners (2-8px radius)</a:t>
                      </a:r>
                    </a:p>
                    <a:p>
                      <a:r>
                        <a:t>High contrast elements</a:t>
                      </a:r>
                    </a:p>
                    <a:p>
                      <a:r>
                        <a:t>Stats bar with prominent numbers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Mobile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Full-width dark sections</a:t>
                      </a:r>
                    </a:p>
                    <a:p>
                      <a:r>
                        <a:t>Orange accent borders</a:t>
                      </a:r>
                    </a:p>
                    <a:p>
                      <a:r>
                        <a:t>Diagonal background cuts</a:t>
                      </a:r>
                    </a:p>
                    <a:p>
                      <a:r>
                        <a:t>Uppercase navigation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PC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1200px max-width</a:t>
                      </a:r>
                    </a:p>
                    <a:p>
                      <a:r>
                        <a:t>Diagonal skew decorations</a:t>
                      </a:r>
                    </a:p>
                    <a:p>
                      <a:r>
                        <a:t>6-column category grid</a:t>
                      </a:r>
                    </a:p>
                    <a:p>
                      <a:r>
                        <a:t>4-column product grid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Style 3: Vibrant Contemporary (活力现代)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Color Palette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Primary: #2563EB (Electric Blue)</a:t>
                      </a:r>
                    </a:p>
                    <a:p>
                      <a:r>
                        <a:t>Secondary: #DC2626 (Racing Red)</a:t>
                      </a:r>
                    </a:p>
                    <a:p>
                      <a:r>
                        <a:t>Accent: #10B981 (Speed Green)</a:t>
                      </a:r>
                    </a:p>
                    <a:p>
                      <a:r>
                        <a:t>Gradient: 135deg Blue to Purple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Typography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Headings: Outfit (600, 700)</a:t>
                      </a:r>
                    </a:p>
                    <a:p>
                      <a:r>
                        <a:t>Body: DM Sans (400, 500)</a:t>
                      </a:r>
                    </a:p>
                    <a:p>
                      <a:r>
                        <a:t>Geometric modern feel</a:t>
                      </a:r>
                    </a:p>
                    <a:p>
                      <a:r>
                        <a:t>Rounded and approachable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Design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Gradient backgrounds</a:t>
                      </a:r>
                    </a:p>
                    <a:p>
                      <a:r>
                        <a:t>Card hover animations</a:t>
                      </a:r>
                    </a:p>
                    <a:p>
                      <a:r>
                        <a:t>Floating action buttons</a:t>
                      </a:r>
                    </a:p>
                    <a:p>
                      <a:r>
                        <a:t>Feature pills and badges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Mobile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Frosted glass nav bar</a:t>
                      </a:r>
                    </a:p>
                    <a:p>
                      <a:r>
                        <a:t>Feature bar scroll</a:t>
                      </a:r>
                    </a:p>
                    <a:p>
                      <a:r>
                        <a:t>Gradient top accents</a:t>
                      </a:r>
                    </a:p>
                    <a:p>
                      <a:r>
                        <a:t>Heart wishlist buttons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PC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1280px max-width</a:t>
                      </a:r>
                    </a:p>
                    <a:p>
                      <a:r>
                        <a:t>Hover lift effects</a:t>
                      </a:r>
                    </a:p>
                    <a:p>
                      <a:r>
                        <a:t>Gradient CTA sections</a:t>
                      </a:r>
                    </a:p>
                    <a:p>
                      <a:r>
                        <a:t>Add-to-cart buttons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Mobile vs PC Design Adaptation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2926080"/>
                <a:gridCol w="329184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Element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Mobile (375px)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Tablet (640px)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Desktop (1024px+)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Navigation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Hamburger menu</a:t>
                      </a:r>
                    </a:p>
                    <a:p>
                      <a:r>
                        <a:t>64px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Compact horizontal</a:t>
                      </a:r>
                    </a:p>
                    <a:p>
                      <a:r>
                        <a:t>Reduced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Full horizontal</a:t>
                      </a:r>
                    </a:p>
                    <a:p>
                      <a:r>
                        <a:t>With labels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Grid 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2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3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4-6 columns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Product Cards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Full-width stacked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Grid with 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Dense grid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Hero 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Single column</a:t>
                      </a:r>
                    </a:p>
                    <a:p>
                      <a:r>
                        <a:t>Centered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Left-aligned</a:t>
                      </a:r>
                    </a:p>
                    <a:p>
                      <a:r>
                        <a:t>With sidebar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Full layout</a:t>
                      </a:r>
                    </a:p>
                    <a:p>
                      <a:r>
                        <a:t>With stats bar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Touch Targets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44px 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44px 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Hover states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Footer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Stacked links</a:t>
                      </a:r>
                    </a:p>
                    <a:p>
                      <a:r>
                        <a:t>Single 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2-column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3-column grid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Design System Technical Specs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68680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Mobile-First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Base styles for 320px, progressive enhancement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Responsive Breakpoints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640px (tablet), 1024px (desktop), 1280px (large)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Touch Targets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Minimum 44x44px for all interactive elements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Font Sizes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Fluid typography with clamp() for headings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Spacing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8px base unit (4, 8, 12, 16, 24, 32, 48, 64px)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Color Contrast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WCAG AA: 4.5:1 for normal text, 3:1 for large text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Safe 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viewport-fit=cover for notch handling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t>Lazy loading images, optimized font loading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Style Selection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44441"/>
                </a:solidFill>
              </a:defRPr>
            </a:pPr>
            <a:r>
              <a:t>• Based on VanGATE's B2B focus and North American market:</a:t>
            </a:r>
          </a:p>
          <a:p>
            <a:pPr>
              <a:spcAft>
                <a:spcPts val="1400"/>
              </a:spcAft>
              <a:defRPr sz="1000">
                <a:solidFill>
                  <a:srgbClr val="444441"/>
                </a:solidFill>
              </a:defRPr>
            </a:pPr>
            <a:r>
              <a:t>•  </a:t>
            </a:r>
          </a:p>
          <a:p>
            <a:pPr>
              <a:spcAft>
                <a:spcPts val="1400"/>
              </a:spcAft>
              <a:defRPr sz="2200" b="1">
                <a:solidFill>
                  <a:srgbClr val="444441"/>
                </a:solidFill>
              </a:defRPr>
            </a:pPr>
            <a:r>
              <a:t>• Modern Minimal (推荐)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Best for: Professional image, trust-building, B2B clients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Clean interface conveys reliability and quality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 </a:t>
            </a:r>
          </a:p>
          <a:p>
            <a:pPr>
              <a:spcAft>
                <a:spcPts val="1400"/>
              </a:spcAft>
              <a:defRPr sz="2000" b="1">
                <a:solidFill>
                  <a:srgbClr val="444441"/>
                </a:solidFill>
              </a:defRPr>
            </a:pPr>
            <a:r>
              <a:t>• Industrial Professional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Best for: Commercial/technical customers, fleet managers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Emphasizes functionality and industrial-grade quality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 </a:t>
            </a:r>
          </a:p>
          <a:p>
            <a:pPr>
              <a:spcAft>
                <a:spcPts val="1400"/>
              </a:spcAft>
              <a:defRPr sz="2000" b="1">
                <a:solidFill>
                  <a:srgbClr val="444441"/>
                </a:solidFill>
              </a:defRPr>
            </a:pPr>
            <a:r>
              <a:t>• Vibrant Contemporary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Best for: E-commerce retail, younger demographic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Modern and energetic, good for online sales emphasis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Design Styles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5D4F4"/>
                </a:solidFill>
              </a:defRPr>
            </a:pPr>
            <a:r>
              <a:t>Mobile-First | Responsive | WCAG AA Compliant | North American Aesthetic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