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VanGATE Website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5D4F4"/>
                </a:solidFill>
              </a:defRPr>
            </a:pPr>
            <a:r>
              <a:t>Website Prototype Validation Proposal |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Project Overview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Existing Website Analysis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Product Categories Structure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Technical Recommendation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Development Plan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Client: VanGATE Manufacturing &amp; Automation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Current Website: vangate.ca (WordPress)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Location: Richmond, BC, Canada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Business: Commercial &amp; Residential Door &amp; Gate Systems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Goal: Rebuild website with modern technology stack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Timeline: Rapid prototype validation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Company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Factory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13,000 sq.ft + 60,000 sq.ft assembly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Industry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20+ years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Satisfied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3,000+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Office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Richmond + Surrey, BC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Service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24/7 Emergency Repair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Existing Website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6 Main Product Categories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36+ Product Subcategories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Multiple Brand Partners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Contact Form Integration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News/Blog Section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Gallery with Project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WordPress + Elementor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Bootstrap 4.5.3 + jQuery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Contact Form 7 Plugin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Yoast SEO Plugin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LiteSpeed Server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Google Analytics 4 + 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 Categories (6 Main Categories)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Subcategories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Main Products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Residential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Garage Doors, Gates, Hardware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Industrial Doors, Parking Gates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Lift &amp; Rotate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Elevators, Lifts, Turntables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Advanced CNC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Laser/Waterjet Cutting, Welding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Operators &amp;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Gate Operators, Access Control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1"/>
                          </a:solidFill>
                        </a:defRPr>
                      </a:pPr>
                      <a:r>
                        <a:t>Installation, Maintenance, Repair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Brand Partners (6 Brands)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CAME (Italy) - Barriers, Access Control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TAU (Italy) - Barriers, Remote Controls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KingGates (Italy) - Gate Operators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LiftMaster (USA) - Garage Door Operators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BAME - Gate Operators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Comunello (Italy) - Hardware Accessories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Contact &amp;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General: 604.938.3588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After-Sale: 604.719.8956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Technical: 778.859.6910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Finance: 604.358.6386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Email: info@vangate.ca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Hours: Mon-Fri 8:00-16:30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Richmond Office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130-12820 Clarke Pl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Richmond, BC V6V 2H1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Surrey Branch</a:t>
            </a:r>
          </a:p>
          <a:p>
            <a:pPr>
              <a:spcAft>
                <a:spcPts val="800"/>
              </a:spcAft>
              <a:defRPr sz="1800">
                <a:solidFill>
                  <a:srgbClr val="444441"/>
                </a:solidFill>
              </a:defRPr>
            </a:pPr>
            <a:r>
              <a:t>• 14613 64 AVE, Surrey, BC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44441"/>
                </a:solidFill>
              </a:defRPr>
            </a:pPr>
            <a:r>
              <a:t>• Frontend: Next.js 14 + TypeScript</a:t>
            </a:r>
          </a:p>
          <a:p>
            <a:pPr>
              <a:spcAft>
                <a:spcPts val="1200"/>
              </a:spcAft>
              <a:defRPr sz="1800">
                <a:solidFill>
                  <a:srgbClr val="444441"/>
                </a:solidFill>
              </a:defRPr>
            </a:pPr>
            <a:r>
              <a:t>•    - SSR for better SEO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444441"/>
                </a:solidFill>
              </a:defRPr>
            </a:pPr>
            <a:r>
              <a:t>•    - Modern React ecosystem</a:t>
            </a:r>
          </a:p>
          <a:p>
            <a:pPr>
              <a:spcAft>
                <a:spcPts val="1200"/>
              </a:spcAft>
              <a:defRPr sz="2200">
                <a:solidFill>
                  <a:srgbClr val="444441"/>
                </a:solidFill>
              </a:defRPr>
            </a:pPr>
            <a:r>
              <a:t>• Styling: Tailwind CSS + shadcn/ui</a:t>
            </a:r>
          </a:p>
          <a:p>
            <a:pPr>
              <a:spcAft>
                <a:spcPts val="1200"/>
              </a:spcAft>
              <a:defRPr sz="1800">
                <a:solidFill>
                  <a:srgbClr val="444441"/>
                </a:solidFill>
              </a:defRPr>
            </a:pPr>
            <a:r>
              <a:t>•    - Responsive design out of box</a:t>
            </a:r>
          </a:p>
          <a:p>
            <a:pPr>
              <a:spcAft>
                <a:spcPts val="1200"/>
              </a:spcAft>
              <a:defRPr sz="2200">
                <a:solidFill>
                  <a:srgbClr val="444441"/>
                </a:solidFill>
              </a:defRPr>
            </a:pPr>
            <a:r>
              <a:t>• CMS: Sanity.io (Headless CMS)</a:t>
            </a:r>
          </a:p>
          <a:p>
            <a:pPr>
              <a:spcAft>
                <a:spcPts val="1200"/>
              </a:spcAft>
              <a:defRPr sz="1800">
                <a:solidFill>
                  <a:srgbClr val="444441"/>
                </a:solidFill>
              </a:defRPr>
            </a:pPr>
            <a:r>
              <a:t>•    - Non-technical user friendly</a:t>
            </a:r>
          </a:p>
          <a:p>
            <a:pPr>
              <a:spcAft>
                <a:spcPts val="1200"/>
              </a:spcAft>
              <a:defRPr sz="2200">
                <a:solidFill>
                  <a:srgbClr val="444441"/>
                </a:solidFill>
              </a:defRPr>
            </a:pPr>
            <a:r>
              <a:t>• Deployment: Vercel</a:t>
            </a:r>
          </a:p>
          <a:p>
            <a:pPr>
              <a:spcAft>
                <a:spcPts val="1200"/>
              </a:spcAft>
              <a:defRPr sz="1800">
                <a:solidFill>
                  <a:srgbClr val="444441"/>
                </a:solidFill>
              </a:defRPr>
            </a:pPr>
            <a:r>
              <a:t>•    - Zero-config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Plan - Rapid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77295" cy="1371600"/>
          </a:xfrm>
          <a:prstGeom prst="roundRect">
            <a:avLst/>
          </a:prstGeom>
          <a:solidFill>
            <a:srgbClr val="F1EFE8"/>
          </a:solidFill>
          <a:ln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FA5"/>
                </a:solidFill>
              </a:defRPr>
            </a:pPr>
            <a:r>
              <a:t>Phase 1: Technical Setup (Day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5E5A"/>
                </a:solidFill>
              </a:defRPr>
            </a:pPr>
            <a:r>
              <a:t>Next.js 14 + TypeScript + Tailwind + shadcn/ui + Sanity CMS + Vercel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1277295" cy="1371600"/>
          </a:xfrm>
          <a:prstGeom prst="roundRect">
            <a:avLst/>
          </a:prstGeom>
          <a:solidFill>
            <a:srgbClr val="F1EFE8"/>
          </a:solidFill>
          <a:ln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FA5"/>
                </a:solidFill>
              </a:defRPr>
            </a:pPr>
            <a:r>
              <a:t>Phase 2: Core Features (Day 2-3)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5E5A"/>
                </a:solidFill>
              </a:defRPr>
            </a:pPr>
            <a:r>
              <a:t>Homepage, Product Catalog, Contact Form, Gallery, News/Blog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77295" cy="1371600"/>
          </a:xfrm>
          <a:prstGeom prst="roundRect">
            <a:avLst/>
          </a:prstGeom>
          <a:solidFill>
            <a:srgbClr val="F1EFE8"/>
          </a:solidFill>
          <a:ln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FA5"/>
                </a:solidFill>
              </a:defRPr>
            </a:pPr>
            <a:r>
              <a:t>Phase 3: Validation (Day 4-5)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5E5A"/>
                </a:solidFill>
              </a:defRPr>
            </a:pPr>
            <a:r>
              <a:t>User testing, Feedback collection, Performance optimization, SEO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26480"/>
            <a:ext cx="11277295" cy="1371600"/>
          </a:xfrm>
          <a:prstGeom prst="roundRect">
            <a:avLst/>
          </a:prstGeom>
          <a:solidFill>
            <a:srgbClr val="F1EFE8"/>
          </a:solidFill>
          <a:ln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FA5"/>
                </a:solidFill>
              </a:defRPr>
            </a:pPr>
            <a:r>
              <a:t>Phase 4: Launch (Day 6-7)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66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5E5A"/>
                </a:solidFill>
              </a:defRPr>
            </a:pPr>
            <a:r>
              <a:t>Domain setup, SSL, Analytics integration, Production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Confirm project scope and priorities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Gather existing content (images, product data)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Access WordPress admin for content migration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Set up development environment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Start with homepage prototype</a:t>
            </a:r>
          </a:p>
          <a:p>
            <a:pPr>
              <a:spcAft>
                <a:spcPts val="1200"/>
              </a:spcAft>
              <a:defRPr sz="2000">
                <a:solidFill>
                  <a:srgbClr val="444441"/>
                </a:solidFill>
              </a:defRPr>
            </a:pPr>
            <a:r>
              <a:t>• Schedule weekly review meetings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5D4F4"/>
                </a:solidFill>
              </a:defRPr>
            </a:pPr>
            <a:r>
              <a:t>Thank you for your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